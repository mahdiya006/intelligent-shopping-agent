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5" r:id="rId5"/>
    <p:sldId id="278" r:id="rId6"/>
    <p:sldId id="281" r:id="rId7"/>
    <p:sldId id="264" r:id="rId8"/>
    <p:sldId id="286" r:id="rId9"/>
    <p:sldId id="287" r:id="rId10"/>
    <p:sldId id="280" r:id="rId11"/>
    <p:sldId id="288" r:id="rId12"/>
    <p:sldId id="289"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Mahdiya006/Intelligent-Shopping-Agent" TargetMode="Externa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649640394"/>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err="1"/>
                        <a:t>Gundgi</a:t>
                      </a:r>
                      <a:r>
                        <a:rPr lang="en-IN" dirty="0"/>
                        <a:t> Mahdiya Fatima Abdul Jabbar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mahdiyafatimagundgi@gmail.com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9321287760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a:highlight>
                  <a:srgbClr val="FFFF00"/>
                </a:highlight>
              </a:rPr>
              <a:t>[ AI-powered E-commerce]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a:highlight>
                  <a:srgbClr val="FFFF00"/>
                </a:highlight>
              </a:rPr>
              <a:t>[</a:t>
            </a:r>
            <a:r>
              <a:rPr lang="en-US" sz="2400" b="1" dirty="0">
                <a:solidFill>
                  <a:srgbClr val="002060"/>
                </a:solidFill>
                <a:highlight>
                  <a:srgbClr val="FFFF00"/>
                </a:highlight>
                <a:latin typeface="+mj-lt"/>
                <a:ea typeface="Times New Roman"/>
                <a:cs typeface="Times New Roman"/>
                <a:sym typeface="Times New Roman"/>
              </a:rPr>
              <a:t>Intelligent Shopping Agent</a:t>
            </a:r>
            <a:r>
              <a:rPr lang="en-US" sz="2400" b="1" dirty="0">
                <a:highlight>
                  <a:srgbClr val="FFFF00"/>
                </a:highlight>
              </a:rPr>
              <a:t>]</a:t>
            </a:r>
            <a:endParaRPr lang="en-IN" sz="2400" b="1" dirty="0">
              <a:highlight>
                <a:srgbClr val="FFFF00"/>
              </a:highlight>
            </a:endParaRPr>
          </a:p>
        </p:txBody>
      </p:sp>
      <p:pic>
        <p:nvPicPr>
          <p:cNvPr id="5" name="Picture 4">
            <a:extLst>
              <a:ext uri="{FF2B5EF4-FFF2-40B4-BE49-F238E27FC236}">
                <a16:creationId xmlns:a16="http://schemas.microsoft.com/office/drawing/2014/main" id="{5DE4F20E-A978-423B-8CDC-3D2811A20530}"/>
              </a:ext>
            </a:extLst>
          </p:cNvPr>
          <p:cNvPicPr>
            <a:picLocks noChangeAspect="1"/>
          </p:cNvPicPr>
          <p:nvPr/>
        </p:nvPicPr>
        <p:blipFill>
          <a:blip r:embed="rId3"/>
          <a:stretch>
            <a:fillRect/>
          </a:stretch>
        </p:blipFill>
        <p:spPr>
          <a:xfrm>
            <a:off x="4089400" y="3683879"/>
            <a:ext cx="985024" cy="99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819542"/>
          </a:xfrm>
          <a:prstGeom prst="rect">
            <a:avLst/>
          </a:prstGeom>
          <a:noFill/>
        </p:spPr>
        <p:txBody>
          <a:bodyPr wrap="square" rtlCol="0">
            <a:spAutoFit/>
          </a:bodyPr>
          <a:lstStyle/>
          <a:p>
            <a:pPr algn="just" fontAlgn="base"/>
            <a:r>
              <a:rPr lang="en-US" b="1" dirty="0"/>
              <a:t>Problem Statement : Intelligent Shopping Agent</a:t>
            </a:r>
            <a:endParaRPr lang="en-US" dirty="0"/>
          </a:p>
          <a:p>
            <a:pPr algn="just" fontAlgn="base"/>
            <a:endParaRPr lang="en-US" b="1" dirty="0"/>
          </a:p>
          <a:p>
            <a:pPr algn="just" fontAlgn="base"/>
            <a:r>
              <a:rPr lang="en-US" b="1" dirty="0"/>
              <a:t>The Challenge</a:t>
            </a:r>
            <a:r>
              <a:rPr lang="en-US" dirty="0"/>
              <a:t> </a:t>
            </a:r>
            <a:endParaRPr lang="en-IN" sz="1800" kern="100" dirty="0">
              <a:effectLst/>
              <a:latin typeface="Aptos"/>
              <a:ea typeface="Aptos"/>
              <a:cs typeface="Arial" panose="020B0604020202020204" pitchFamily="34" charset="0"/>
            </a:endParaRPr>
          </a:p>
          <a:p>
            <a:pPr algn="just">
              <a:lnSpc>
                <a:spcPct val="115000"/>
              </a:lnSpc>
              <a:spcAft>
                <a:spcPts val="800"/>
              </a:spcAft>
            </a:pPr>
            <a:r>
              <a:rPr lang="en-IN" kern="100" dirty="0">
                <a:effectLst/>
                <a:latin typeface="+mj-lt"/>
                <a:ea typeface="Aptos"/>
                <a:cs typeface="Arial" panose="020B0604020202020204" pitchFamily="34" charset="0"/>
              </a:rPr>
              <a:t>Shoppers today face an overload of product options, scattered reviews, and dynamic pricing across e-commerce platforms. Finding the right product that balances price, quality, and personal preferences is time-consuming and frustrating. Traditional recommendation systems often fail to capture real-time trends, personalized needs, or contextual factors like urgency, budget, or sustainability. The challenge is not just to recommend products but to act as a smart shopping companion that helps buyers make informed and confident decisions.</a:t>
            </a:r>
          </a:p>
          <a:p>
            <a:pPr algn="just" fontAlgn="base"/>
            <a:r>
              <a:rPr lang="en-US" dirty="0"/>
              <a:t>.</a:t>
            </a:r>
          </a:p>
          <a:p>
            <a:pPr algn="just">
              <a:lnSpc>
                <a:spcPct val="115000"/>
              </a:lnSpc>
              <a:spcAft>
                <a:spcPts val="800"/>
              </a:spcAft>
            </a:pPr>
            <a:r>
              <a:rPr lang="en-IN" b="1" kern="100" dirty="0">
                <a:effectLst/>
                <a:latin typeface="+mj-lt"/>
                <a:ea typeface="Aptos"/>
                <a:cs typeface="Arial" panose="020B0604020202020204" pitchFamily="34" charset="0"/>
              </a:rPr>
              <a:t>The Objective</a:t>
            </a:r>
            <a:endParaRPr lang="en-IN" kern="100" dirty="0">
              <a:effectLst/>
              <a:latin typeface="+mj-lt"/>
              <a:ea typeface="Aptos"/>
              <a:cs typeface="Arial" panose="020B0604020202020204" pitchFamily="34" charset="0"/>
            </a:endParaRPr>
          </a:p>
          <a:p>
            <a:pPr algn="just">
              <a:lnSpc>
                <a:spcPct val="115000"/>
              </a:lnSpc>
              <a:spcAft>
                <a:spcPts val="800"/>
              </a:spcAft>
            </a:pPr>
            <a:r>
              <a:rPr lang="en-IN" kern="100" dirty="0">
                <a:effectLst/>
                <a:latin typeface="+mj-lt"/>
                <a:ea typeface="Aptos"/>
                <a:cs typeface="Arial" panose="020B0604020202020204" pitchFamily="34" charset="0"/>
              </a:rPr>
              <a:t>Build an agentic AI shopping assistant that provides intelligent, personalized, and real-time support. The solution should:</a:t>
            </a: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mj-lt"/>
                <a:ea typeface="Aptos"/>
                <a:cs typeface="Arial" panose="020B0604020202020204" pitchFamily="34" charset="0"/>
              </a:rPr>
              <a:t>Fuse Multisource Data:</a:t>
            </a:r>
            <a:r>
              <a:rPr lang="en-IN" kern="100" dirty="0">
                <a:effectLst/>
                <a:latin typeface="+mj-lt"/>
                <a:ea typeface="Aptos"/>
                <a:cs typeface="Arial" panose="020B0604020202020204" pitchFamily="34" charset="0"/>
              </a:rPr>
              <a:t> Aggregate product details, reviews, ratings, and price comparisons across multiple e-commerce sites into unified insights.</a:t>
            </a: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mj-lt"/>
                <a:ea typeface="Aptos"/>
                <a:cs typeface="Arial" panose="020B0604020202020204" pitchFamily="34" charset="0"/>
              </a:rPr>
              <a:t>Enable Multimodal Search</a:t>
            </a:r>
            <a:r>
              <a:rPr lang="en-IN" kern="100" dirty="0">
                <a:effectLst/>
                <a:latin typeface="+mj-lt"/>
                <a:ea typeface="Aptos"/>
                <a:cs typeface="Arial" panose="020B0604020202020204" pitchFamily="34" charset="0"/>
              </a:rPr>
              <a:t>: Allow users to input voice queries, images (e.g., a photo of a product), or text descriptions to find best-matching products.</a:t>
            </a: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mj-lt"/>
                <a:ea typeface="Aptos"/>
                <a:cs typeface="Arial" panose="020B0604020202020204" pitchFamily="34" charset="0"/>
              </a:rPr>
              <a:t>Create a Predictive &amp; Agentic Layer:</a:t>
            </a:r>
            <a:r>
              <a:rPr lang="en-IN" kern="100" dirty="0">
                <a:effectLst/>
                <a:latin typeface="+mj-lt"/>
                <a:ea typeface="Aptos"/>
                <a:cs typeface="Arial" panose="020B0604020202020204" pitchFamily="34" charset="0"/>
              </a:rPr>
              <a:t> Suggest purchase timing (e.g., discounts, seasonal offers), recommend alternatives, and alert users about price drops or fake reviews.</a:t>
            </a:r>
          </a:p>
          <a:p>
            <a:pPr marL="342900" lvl="0" indent="-342900" algn="just">
              <a:lnSpc>
                <a:spcPct val="115000"/>
              </a:lnSpc>
              <a:spcAft>
                <a:spcPts val="800"/>
              </a:spcAft>
              <a:buSzPts val="1000"/>
              <a:buFont typeface="+mj-lt"/>
              <a:buAutoNum type="arabicPeriod"/>
              <a:tabLst>
                <a:tab pos="270510" algn="l"/>
              </a:tabLst>
            </a:pPr>
            <a:r>
              <a:rPr lang="en-IN" b="1" kern="100" dirty="0">
                <a:effectLst/>
                <a:latin typeface="+mj-lt"/>
                <a:ea typeface="Aptos"/>
                <a:cs typeface="Arial" panose="020B0604020202020204" pitchFamily="34" charset="0"/>
              </a:rPr>
              <a:t>Visualize Smart Shopping Pulse:</a:t>
            </a:r>
            <a:r>
              <a:rPr lang="en-IN" kern="100" dirty="0">
                <a:effectLst/>
                <a:latin typeface="+mj-lt"/>
                <a:ea typeface="Aptos"/>
                <a:cs typeface="Arial" panose="020B0604020202020204" pitchFamily="34" charset="0"/>
              </a:rPr>
              <a:t> Provide a dashboard summarizing comparisons, sustainability scores, trending products, and personalized shopping lists.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738664"/>
          </a:xfrm>
          <a:prstGeom prst="rect">
            <a:avLst/>
          </a:prstGeom>
          <a:noFill/>
        </p:spPr>
        <p:txBody>
          <a:bodyPr wrap="square" rtlCol="0">
            <a:spAutoFit/>
          </a:bodyPr>
          <a:lstStyle/>
          <a:p>
            <a:pPr fontAlgn="base"/>
            <a:endParaRPr lang="en-US" b="1" dirty="0"/>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
        <p:nvSpPr>
          <p:cNvPr id="6" name="Rectangle 3">
            <a:extLst>
              <a:ext uri="{FF2B5EF4-FFF2-40B4-BE49-F238E27FC236}">
                <a16:creationId xmlns:a16="http://schemas.microsoft.com/office/drawing/2014/main" id="{0FAB37F1-6FFB-4634-A211-FE048F0CCA74}"/>
              </a:ext>
            </a:extLst>
          </p:cNvPr>
          <p:cNvSpPr>
            <a:spLocks noChangeArrowheads="1"/>
          </p:cNvSpPr>
          <p:nvPr/>
        </p:nvSpPr>
        <p:spPr bwMode="auto">
          <a:xfrm>
            <a:off x="576072" y="1234440"/>
            <a:ext cx="9964928" cy="48320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Proposed Solution: AI-Powered Intelligent Shopping Agent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proposed solution is a multi-agent AI-powered Intelligent Shopping Agent built using </a:t>
            </a:r>
            <a:r>
              <a:rPr kumimoji="0" lang="en-US" altLang="en-US" b="0" i="0" u="none" strike="noStrike" cap="none" normalizeH="0" baseline="0" dirty="0" err="1">
                <a:ln>
                  <a:noFill/>
                </a:ln>
                <a:solidFill>
                  <a:schemeClr val="tx1"/>
                </a:solidFill>
                <a:effectLst/>
                <a:latin typeface="Arial" panose="020B0604020202020204" pitchFamily="34" charset="0"/>
              </a:rPr>
              <a:t>LangFlow</a:t>
            </a:r>
            <a:r>
              <a:rPr kumimoji="0" lang="en-US" altLang="en-US" b="0" i="0" u="none" strike="noStrike" cap="none" normalizeH="0" baseline="0" dirty="0">
                <a:ln>
                  <a:noFill/>
                </a:ln>
                <a:solidFill>
                  <a:schemeClr val="tx1"/>
                </a:solidFill>
                <a:effectLst/>
                <a:latin typeface="Arial" panose="020B0604020202020204" pitchFamily="34" charset="0"/>
              </a:rPr>
              <a:t> and Large Language Models (LLMs) to provide personalized, real-time product recommendations. The system addresses common challenges in online shopping such as information overload, scattered reviews, and price comparison through an intelligent and modular architecture.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At its core, the solution leverages a Retrieval-Augmented Generation (RAG) pipeline to gather relevant product data from various sources, including e-commerce platforms, user reviews, and pricing datasets. This data is processed and stored efficiently, enabling the system to retrieve and summarize key product details such as price, features, ratings, and reviews using LLM capabilities.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system consists of four key agents: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Product Search Agent</a:t>
            </a:r>
            <a:r>
              <a:rPr kumimoji="0" lang="en-US" altLang="en-US" b="0" i="0" u="none" strike="noStrike" cap="none" normalizeH="0" baseline="0" dirty="0">
                <a:ln>
                  <a:noFill/>
                </a:ln>
                <a:solidFill>
                  <a:schemeClr val="tx1"/>
                </a:solidFill>
                <a:effectLst/>
                <a:latin typeface="Arial" panose="020B0604020202020204" pitchFamily="34" charset="0"/>
              </a:rPr>
              <a:t> retrieves relevant products based on user queries and preferences using intelligent search mechanisms.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Recommendation Agent</a:t>
            </a:r>
            <a:r>
              <a:rPr kumimoji="0" lang="en-US" altLang="en-US" b="0" i="0" u="none" strike="noStrike" cap="none" normalizeH="0" baseline="0" dirty="0">
                <a:ln>
                  <a:noFill/>
                </a:ln>
                <a:solidFill>
                  <a:schemeClr val="tx1"/>
                </a:solidFill>
                <a:effectLst/>
                <a:latin typeface="Arial" panose="020B0604020202020204" pitchFamily="34" charset="0"/>
              </a:rPr>
              <a:t> generates personalized product suggestions by analyzing user needs, budget, and preferences.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Review Analysis Agent</a:t>
            </a:r>
            <a:r>
              <a:rPr kumimoji="0" lang="en-US" altLang="en-US" b="0" i="0" u="none" strike="noStrike" cap="none" normalizeH="0" baseline="0" dirty="0">
                <a:ln>
                  <a:noFill/>
                </a:ln>
                <a:solidFill>
                  <a:schemeClr val="tx1"/>
                </a:solidFill>
                <a:effectLst/>
                <a:latin typeface="Arial" panose="020B0604020202020204" pitchFamily="34" charset="0"/>
              </a:rPr>
              <a:t> summarizes customer reviews and ratings to provide clear insights into product quality and user satisfaction.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Price Comparison Agent</a:t>
            </a:r>
            <a:r>
              <a:rPr kumimoji="0" lang="en-US" altLang="en-US" b="0" i="0" u="none" strike="noStrike" cap="none" normalizeH="0" baseline="0" dirty="0">
                <a:ln>
                  <a:noFill/>
                </a:ln>
                <a:solidFill>
                  <a:schemeClr val="tx1"/>
                </a:solidFill>
                <a:effectLst/>
                <a:latin typeface="Arial" panose="020B0604020202020204" pitchFamily="34" charset="0"/>
              </a:rPr>
              <a:t> compares prices across different platforms and suggests the best available deals to the user.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The solution can include a user-friendly interface (such as a web-based dashboard) that allows users to interact with the agent, view product recommendations, and make informed purchasing decisions.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err="1">
                <a:ln>
                  <a:noFill/>
                </a:ln>
                <a:solidFill>
                  <a:schemeClr val="tx1"/>
                </a:solidFill>
                <a:effectLst/>
                <a:latin typeface="Arial" panose="020B0604020202020204" pitchFamily="34" charset="0"/>
              </a:rPr>
              <a:t>LangFlow</a:t>
            </a:r>
            <a:r>
              <a:rPr kumimoji="0" lang="en-US" altLang="en-US" b="0" i="0" u="none" strike="noStrike" cap="none" normalizeH="0" baseline="0" dirty="0">
                <a:ln>
                  <a:noFill/>
                </a:ln>
                <a:solidFill>
                  <a:schemeClr val="tx1"/>
                </a:solidFill>
                <a:effectLst/>
                <a:latin typeface="Arial" panose="020B0604020202020204" pitchFamily="34" charset="0"/>
              </a:rPr>
              <a:t> is used to design and orchestrate the workflow between different agents, while LLMs power natural language understanding, reasoning, and response generation.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Overall, this solution delivers an intelligent shopping assistant that simplifies the buying process, saves time, and helps users make better purchasing decisions through personalized recommendations, real-time insights, and smart comparisons.</a:t>
            </a:r>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Google Generative ai</a:t>
            </a:r>
            <a:r>
              <a:rPr lang="en-US" sz="1800" dirty="0"/>
              <a:t>-  for </a:t>
            </a:r>
            <a:r>
              <a:rPr lang="en-US" sz="1800" dirty="0" err="1"/>
              <a:t>eg</a:t>
            </a:r>
            <a:r>
              <a:rPr lang="en-US" sz="1800" dirty="0"/>
              <a:t> – gemini-3.5-flash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Google generative ai</a:t>
            </a:r>
            <a:r>
              <a:rPr lang="en-US" dirty="0"/>
              <a:t>- Processes user input using Granite models to generate personalized nutrition insights and recommendations. </a:t>
            </a:r>
          </a:p>
          <a:p>
            <a:endParaRPr lang="en-US" dirty="0"/>
          </a:p>
          <a:p>
            <a:r>
              <a:rPr lang="en-US" b="1" dirty="0"/>
              <a:t>3) Name of Google Generative ai – </a:t>
            </a:r>
            <a:r>
              <a:rPr lang="en-US" dirty="0"/>
              <a:t>Gemini-3.5-flash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5" name="Rectangle 2">
            <a:extLst>
              <a:ext uri="{FF2B5EF4-FFF2-40B4-BE49-F238E27FC236}">
                <a16:creationId xmlns:a16="http://schemas.microsoft.com/office/drawing/2014/main" id="{AFEC8DCE-D78F-438B-9EC0-1C1F57557A1E}"/>
              </a:ext>
            </a:extLst>
          </p:cNvPr>
          <p:cNvSpPr>
            <a:spLocks noChangeArrowheads="1"/>
          </p:cNvSpPr>
          <p:nvPr/>
        </p:nvSpPr>
        <p:spPr bwMode="auto">
          <a:xfrm>
            <a:off x="475488" y="1163714"/>
            <a:ext cx="7048501"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chemeClr val="tx1"/>
                </a:solidFill>
                <a:effectLst/>
                <a:latin typeface="Arial" panose="020B0604020202020204" pitchFamily="34" charset="0"/>
              </a:rPr>
              <a:t>Role of Agentic AI in Intelligent Shopping Agent</a:t>
            </a:r>
            <a:endParaRPr kumimoji="0" lang="en-US" altLang="en-US"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Agentic AI enables the Intelligent Shopping Agent to function as a smart, autonomous system rather than a basic search tool. Using </a:t>
            </a:r>
            <a:r>
              <a:rPr kumimoji="0" lang="en-US" altLang="en-US" b="0" i="0" u="none" strike="noStrike" cap="none" normalizeH="0" baseline="0" dirty="0" err="1">
                <a:ln>
                  <a:noFill/>
                </a:ln>
                <a:solidFill>
                  <a:schemeClr val="tx1"/>
                </a:solidFill>
                <a:effectLst/>
                <a:latin typeface="Arial" panose="020B0604020202020204" pitchFamily="34" charset="0"/>
              </a:rPr>
              <a:t>LangFlow</a:t>
            </a:r>
            <a:r>
              <a:rPr kumimoji="0" lang="en-US" altLang="en-US" b="0" i="0" u="none" strike="noStrike" cap="none" normalizeH="0" baseline="0" dirty="0">
                <a:ln>
                  <a:noFill/>
                </a:ln>
                <a:solidFill>
                  <a:schemeClr val="tx1"/>
                </a:solidFill>
                <a:effectLst/>
                <a:latin typeface="Arial" panose="020B0604020202020204" pitchFamily="34" charset="0"/>
              </a:rPr>
              <a:t> and Large Language Models (LLMs), it coordinates multiple specialized agents to deliver personalized and efficient shopping assistance.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Each agent performs a specific role—such as searching products, generating recommendations, analyzing customer reviews, and comparing prices—while working collaboratively. This multi-agent approach ensures faster processing, better accuracy, and more relevant results for users.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Agentic AI also provides context awareness by understanding user preferences such as budget, product requirements, brand choices, and urgency. Based on this context, the system generates tailored product suggestions that match the user’s needs.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It supports real-time adaptation, continuously refining recommendations as users modify their queries or preferences. For example, if a user changes budget or product type, the system instantly updates its suggestions.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Additionally, agents communicate with each other to combine insights from different tasks, leading to smarter decision-making and improved user experience.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chemeClr val="tx1"/>
                </a:solidFill>
                <a:effectLst/>
                <a:latin typeface="Arial" panose="020B0604020202020204" pitchFamily="34" charset="0"/>
              </a:rPr>
              <a:t>Overall, Agentic AI makes the system proactive, personalized, and goal-driven, acting like a smart digital shopping assistant that helps users make informed and efficient purchasing decisions.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5" name="Rectangle 2">
            <a:extLst>
              <a:ext uri="{FF2B5EF4-FFF2-40B4-BE49-F238E27FC236}">
                <a16:creationId xmlns:a16="http://schemas.microsoft.com/office/drawing/2014/main" id="{86CE5E88-F8F9-4EAF-8E91-59BE784A1BA8}"/>
              </a:ext>
            </a:extLst>
          </p:cNvPr>
          <p:cNvSpPr>
            <a:spLocks noChangeArrowheads="1"/>
          </p:cNvSpPr>
          <p:nvPr/>
        </p:nvSpPr>
        <p:spPr bwMode="auto">
          <a:xfrm>
            <a:off x="777240" y="1166842"/>
            <a:ext cx="1063255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proposed Intelligent Shopping Agent stands out by combining Agentic AI, RAG, and personalization into a single intelligent system.</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Multi-Agent Intelligence</a:t>
            </a:r>
            <a:r>
              <a:rPr kumimoji="0" lang="en-US" altLang="en-US" sz="1600" b="0" i="0" u="none" strike="noStrike" cap="none" normalizeH="0" baseline="0" dirty="0">
                <a:ln>
                  <a:noFill/>
                </a:ln>
                <a:solidFill>
                  <a:schemeClr val="tx1"/>
                </a:solidFill>
                <a:effectLst/>
                <a:latin typeface="Arial" panose="020B0604020202020204" pitchFamily="34" charset="0"/>
              </a:rPr>
              <a:t> – Instead of a single chatbot, multiple specialized agents collaborate to deliver accurate and context-aware product recommendations.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RAG-Based Accuracy</a:t>
            </a:r>
            <a:r>
              <a:rPr kumimoji="0" lang="en-US" altLang="en-US" sz="1600" b="0" i="0" u="none" strike="noStrike" cap="none" normalizeH="0" baseline="0" dirty="0">
                <a:ln>
                  <a:noFill/>
                </a:ln>
                <a:solidFill>
                  <a:schemeClr val="tx1"/>
                </a:solidFill>
                <a:effectLst/>
                <a:latin typeface="Arial" panose="020B0604020202020204" pitchFamily="34" charset="0"/>
              </a:rPr>
              <a:t> – Integrates real-time product data retrieval with AI-generated responses, reducing misinformation and ensuring reliable suggestions.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Hyper-Personalization</a:t>
            </a:r>
            <a:r>
              <a:rPr kumimoji="0" lang="en-US" altLang="en-US" sz="1600" b="0" i="0" u="none" strike="noStrike" cap="none" normalizeH="0" baseline="0" dirty="0">
                <a:ln>
                  <a:noFill/>
                </a:ln>
                <a:solidFill>
                  <a:schemeClr val="tx1"/>
                </a:solidFill>
                <a:effectLst/>
                <a:latin typeface="Arial" panose="020B0604020202020204" pitchFamily="34" charset="0"/>
              </a:rPr>
              <a:t> – Tailors recommendations based on user preferences such as budget, brand choices, product requirements, and shopping behavior.</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Real-Time Adaptation</a:t>
            </a:r>
            <a:r>
              <a:rPr kumimoji="0" lang="en-US" altLang="en-US" sz="1600" b="0" i="0" u="none" strike="noStrike" cap="none" normalizeH="0" baseline="0" dirty="0">
                <a:ln>
                  <a:noFill/>
                </a:ln>
                <a:solidFill>
                  <a:schemeClr val="tx1"/>
                </a:solidFill>
                <a:effectLst/>
                <a:latin typeface="Arial" panose="020B0604020202020204" pitchFamily="34" charset="0"/>
              </a:rPr>
              <a:t> – Continuously updates recommendations based on user queries and changes in preferences, ensuring relevant results at all times.</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Review &amp; Insight Analysis</a:t>
            </a:r>
            <a:r>
              <a:rPr kumimoji="0" lang="en-US" altLang="en-US" sz="1600" b="0" i="0" u="none" strike="noStrike" cap="none" normalizeH="0" baseline="0" dirty="0">
                <a:ln>
                  <a:noFill/>
                </a:ln>
                <a:solidFill>
                  <a:schemeClr val="tx1"/>
                </a:solidFill>
                <a:effectLst/>
                <a:latin typeface="Arial" panose="020B0604020202020204" pitchFamily="34" charset="0"/>
              </a:rPr>
              <a:t> – Summarizes customer reviews and ratings to provide clear insights into product quality and user satisfaction.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Smart Price Comparison</a:t>
            </a:r>
            <a:r>
              <a:rPr kumimoji="0" lang="en-US" altLang="en-US" sz="1600" b="0" i="0" u="none" strike="noStrike" cap="none" normalizeH="0" baseline="0" dirty="0">
                <a:ln>
                  <a:noFill/>
                </a:ln>
                <a:solidFill>
                  <a:schemeClr val="tx1"/>
                </a:solidFill>
                <a:effectLst/>
                <a:latin typeface="Arial" panose="020B0604020202020204" pitchFamily="34" charset="0"/>
              </a:rPr>
              <a:t> – Compares prices across different platforms to help users find the best deals and save money.</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Scalable &amp; Enterprise-Ready – Built on IBM watsonx.ai with IBM Granite models, ensuring reliability and governance.</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This makes the solution a smart, adaptive, and proactive digital shopping assistant, not just a basic product search tool.</a:t>
            </a:r>
          </a:p>
        </p:txBody>
      </p:sp>
    </p:spTree>
    <p:extLst>
      <p:ext uri="{BB962C8B-B14F-4D97-AF65-F5344CB8AC3E}">
        <p14:creationId xmlns:p14="http://schemas.microsoft.com/office/powerpoint/2010/main" val="917964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800" b="1" dirty="0">
                <a:sym typeface="Times New Roman"/>
              </a:rPr>
              <a:t>Git Hub Link</a:t>
            </a:r>
            <a:endParaRPr sz="28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This project presents an Intelligent Shopping Agent developed using </a:t>
            </a:r>
            <a:r>
              <a:rPr kumimoji="0" lang="en-US" altLang="en-US" sz="2400" b="0" i="0" u="none" strike="noStrike" cap="none" normalizeH="0" baseline="0" dirty="0" err="1">
                <a:ln>
                  <a:noFill/>
                </a:ln>
                <a:solidFill>
                  <a:schemeClr val="tx1"/>
                </a:solidFill>
                <a:effectLst/>
                <a:latin typeface="Arial" panose="020B0604020202020204" pitchFamily="34" charset="0"/>
              </a:rPr>
              <a:t>Langflow</a:t>
            </a:r>
            <a:r>
              <a:rPr kumimoji="0" lang="en-US" altLang="en-US" sz="2400" b="0" i="0" u="none" strike="noStrike" cap="none" normalizeH="0" baseline="0" dirty="0">
                <a:ln>
                  <a:noFill/>
                </a:ln>
                <a:solidFill>
                  <a:schemeClr val="tx1"/>
                </a:solidFill>
                <a:effectLst/>
                <a:latin typeface="Arial" panose="020B0604020202020204" pitchFamily="34" charset="0"/>
              </a:rPr>
              <a:t>, designed to assist users in finding the best products based on preferences, pricing, and reviews. The complete project, including source files and documentation, is available at the following GitHub repository: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eaLnBrk="0" fontAlgn="base" hangingPunct="0">
              <a:spcBef>
                <a:spcPct val="0"/>
              </a:spcBef>
              <a:spcAft>
                <a:spcPct val="0"/>
              </a:spcAft>
              <a:buClrTx/>
            </a:pPr>
            <a:r>
              <a:rPr kumimoji="0" lang="en-US" altLang="en-US" sz="2400" b="0" i="0" u="none" strike="noStrike" cap="none" normalizeH="0" baseline="0" dirty="0">
                <a:ln>
                  <a:noFill/>
                </a:ln>
                <a:solidFill>
                  <a:schemeClr val="tx1"/>
                </a:solidFill>
                <a:effectLst/>
                <a:latin typeface="Arial" panose="020B0604020202020204" pitchFamily="34" charset="0"/>
              </a:rPr>
              <a:t>[</a:t>
            </a:r>
            <a:r>
              <a:rPr lang="en-IN" sz="2400" b="0" i="0" u="none" strike="noStrike" cap="none" dirty="0">
                <a:solidFill>
                  <a:srgbClr val="000000"/>
                </a:solidFill>
                <a:latin typeface="+mn-lt"/>
                <a:ea typeface="Times New Roman"/>
                <a:cs typeface="Times New Roman"/>
                <a:sym typeface="Times New Roman"/>
                <a:hlinkClick r:id="rId3"/>
              </a:rPr>
              <a:t>My Project</a:t>
            </a:r>
            <a:r>
              <a:rPr kumimoji="0" lang="en-US" altLang="en-US" sz="2400" b="0" i="0" u="none" strike="noStrike" cap="none" normalizeH="0" baseline="0" dirty="0">
                <a:ln>
                  <a:noFill/>
                </a:ln>
                <a:solidFill>
                  <a:schemeClr val="tx1"/>
                </a:solidFill>
                <a:effectLst/>
                <a:latin typeface="Arial" panose="020B0604020202020204" pitchFamily="34" charset="0"/>
              </a:rPr>
              <a:t>]</a:t>
            </a:r>
          </a:p>
          <a:p>
            <a:pPr marL="0" marR="0" lvl="0" indent="0" algn="l" rtl="0">
              <a:lnSpc>
                <a:spcPct val="162162"/>
              </a:lnSpc>
              <a:spcBef>
                <a:spcPts val="0"/>
              </a:spcBef>
              <a:spcAft>
                <a:spcPts val="0"/>
              </a:spcAft>
              <a:buClr>
                <a:srgbClr val="2B3541"/>
              </a:buClr>
              <a:buSzPts val="1850"/>
              <a:buFont typeface="Times New Roman"/>
              <a:buNone/>
            </a:pPr>
            <a:endParaRPr lang="en-IN" sz="2400" dirty="0">
              <a:latin typeface="+mn-lt"/>
              <a:ea typeface="Times New Roman"/>
              <a:cs typeface="Times New Roman"/>
              <a:sym typeface="Times New Roman"/>
              <a:hlinkClick r:id="rId3"/>
            </a:endParaRPr>
          </a:p>
          <a:p>
            <a:pPr marL="0" marR="0" lvl="0" indent="0" algn="l" rtl="0">
              <a:lnSpc>
                <a:spcPct val="162162"/>
              </a:lnSpc>
              <a:spcBef>
                <a:spcPts val="0"/>
              </a:spcBef>
              <a:spcAft>
                <a:spcPts val="0"/>
              </a:spcAft>
              <a:buClr>
                <a:srgbClr val="2B3541"/>
              </a:buClr>
              <a:buSzPts val="1850"/>
              <a:buFont typeface="Times New Roman"/>
              <a:buNone/>
            </a:pPr>
            <a:endParaRPr lang="en-IN" sz="1850" b="0" i="0" u="none" strike="noStrike" cap="none" dirty="0">
              <a:solidFill>
                <a:srgbClr val="000000"/>
              </a:solidFill>
              <a:latin typeface="Times New Roman"/>
              <a:ea typeface="Times New Roman"/>
              <a:cs typeface="Times New Roman"/>
              <a:sym typeface="Times New Roman"/>
              <a:hlinkClick r:id="rId3"/>
            </a:endParaRPr>
          </a:p>
          <a:p>
            <a:pPr marL="0" marR="0" lvl="0" indent="0" algn="l" rtl="0">
              <a:lnSpc>
                <a:spcPct val="162162"/>
              </a:lnSpc>
              <a:spcBef>
                <a:spcPts val="0"/>
              </a:spcBef>
              <a:spcAft>
                <a:spcPts val="0"/>
              </a:spcAft>
              <a:buClr>
                <a:srgbClr val="2B3541"/>
              </a:buClr>
              <a:buSzPts val="1850"/>
              <a:buFont typeface="Times New Roman"/>
              <a:buNone/>
            </a:pPr>
            <a:endParaRPr lang="en-IN" sz="1850" dirty="0">
              <a:latin typeface="Times New Roman"/>
              <a:ea typeface="Times New Roman"/>
              <a:cs typeface="Times New Roman"/>
              <a:sym typeface="Times New Roman"/>
              <a:hlinkClick r:id="rId3"/>
            </a:endParaRPr>
          </a:p>
          <a:p>
            <a:pPr marL="0" marR="0" lvl="0" indent="0" algn="l" rtl="0">
              <a:lnSpc>
                <a:spcPct val="162162"/>
              </a:lnSpc>
              <a:spcBef>
                <a:spcPts val="0"/>
              </a:spcBef>
              <a:spcAft>
                <a:spcPts val="0"/>
              </a:spcAft>
              <a:buClr>
                <a:srgbClr val="2B3541"/>
              </a:buClr>
              <a:buSzPts val="1850"/>
              <a:buFont typeface="Times New Roman"/>
              <a:buNone/>
            </a:pPr>
            <a:endParaRPr lang="en-IN" sz="1850" b="0" i="0" u="none" strike="noStrike" cap="none" dirty="0">
              <a:solidFill>
                <a:srgbClr val="000000"/>
              </a:solidFill>
              <a:latin typeface="Times New Roman"/>
              <a:ea typeface="Times New Roman"/>
              <a:cs typeface="Times New Roman"/>
              <a:sym typeface="Times New Roman"/>
              <a:hlinkClick r:id="rId3"/>
            </a:endParaRPr>
          </a:p>
          <a:p>
            <a:pPr marL="0" marR="0" lvl="0" indent="0" algn="l" rtl="0">
              <a:lnSpc>
                <a:spcPct val="162162"/>
              </a:lnSpc>
              <a:spcBef>
                <a:spcPts val="0"/>
              </a:spcBef>
              <a:spcAft>
                <a:spcPts val="0"/>
              </a:spcAft>
              <a:buClr>
                <a:srgbClr val="2B3541"/>
              </a:buClr>
              <a:buSzPts val="1850"/>
              <a:buFont typeface="Times New Roman"/>
              <a:buNone/>
            </a:pPr>
            <a:endParaRPr lang="en-IN" sz="1850" dirty="0">
              <a:latin typeface="Times New Roman"/>
              <a:ea typeface="Times New Roman"/>
              <a:cs typeface="Times New Roman"/>
              <a:sym typeface="Times New Roman"/>
              <a:hlinkClick r:id="rId3"/>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2091737" y="2226360"/>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213649" y="5629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5" name="Picture 4">
            <a:extLst>
              <a:ext uri="{FF2B5EF4-FFF2-40B4-BE49-F238E27FC236}">
                <a16:creationId xmlns:a16="http://schemas.microsoft.com/office/drawing/2014/main" id="{B717A8CD-47DE-4140-878F-7CB29A0DFDBE}"/>
              </a:ext>
            </a:extLst>
          </p:cNvPr>
          <p:cNvPicPr>
            <a:picLocks noChangeAspect="1"/>
          </p:cNvPicPr>
          <p:nvPr/>
        </p:nvPicPr>
        <p:blipFill>
          <a:blip r:embed="rId2"/>
          <a:stretch>
            <a:fillRect/>
          </a:stretch>
        </p:blipFill>
        <p:spPr>
          <a:xfrm>
            <a:off x="2489201" y="1403243"/>
            <a:ext cx="6453464" cy="5048357"/>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5D5A7A66-009D-42F3-8211-B264AB63B35D}"/>
              </a:ext>
            </a:extLst>
          </p:cNvPr>
          <p:cNvPicPr>
            <a:picLocks noChangeAspect="1"/>
          </p:cNvPicPr>
          <p:nvPr/>
        </p:nvPicPr>
        <p:blipFill>
          <a:blip r:embed="rId2"/>
          <a:stretch>
            <a:fillRect/>
          </a:stretch>
        </p:blipFill>
        <p:spPr>
          <a:xfrm>
            <a:off x="2409652" y="1219091"/>
            <a:ext cx="6712295" cy="4216617"/>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204</TotalTime>
  <Words>1419</Words>
  <Application>Microsoft Office PowerPoint</Application>
  <PresentationFormat>Widescreen</PresentationFormat>
  <Paragraphs>111</Paragraphs>
  <Slides>13</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MahdiyFatimaGundgi</cp:lastModifiedBy>
  <cp:revision>21</cp:revision>
  <dcterms:created xsi:type="dcterms:W3CDTF">2025-07-08T05:06:56Z</dcterms:created>
  <dcterms:modified xsi:type="dcterms:W3CDTF">2026-06-23T18:10:14Z</dcterms:modified>
</cp:coreProperties>
</file>